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5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36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idea that this video is not a tour of every line. It is a map of what to look for and what to do when faculty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BDA0FC-7535-2D5C-3503-E5A9BFB626AA}"/>
              </a:ext>
            </a:extLst>
          </p:cNvPr>
          <p:cNvSpPr/>
          <p:nvPr/>
        </p:nvSpPr>
        <p:spPr>
          <a:xfrm>
            <a:off x="220133" y="347133"/>
            <a:ext cx="11743267" cy="6206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c3a6c063-2bf5-4e3e-a1e2-e3d2839451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31520"/>
            <a:ext cx="4203510" cy="1408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7066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206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Customize the Game</a:t>
            </a:r>
            <a:endParaRPr lang="en-US" sz="4500" dirty="0">
              <a:solidFill>
                <a:srgbClr val="00206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8869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Use the code map. Make targeted edits. 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4800600"/>
            <a:ext cx="2249424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95000"/>
            </a:srgbClr>
          </a:solidFill>
          <a:ln w="16510">
            <a:solidFill>
              <a:srgbClr val="18D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496519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BFF"/>
                </a:solidFill>
              </a:rPr>
              <a:t>Find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227832" y="498348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47872" y="4800600"/>
            <a:ext cx="2249424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93592" y="496519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BFF"/>
                </a:solidFill>
              </a:rPr>
              <a:t>Edit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861304" y="498348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81344" y="4800600"/>
            <a:ext cx="2249424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27064" y="496519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BFF"/>
                </a:solidFill>
              </a:rPr>
              <a:t>Test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494776" y="498348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814816" y="4800600"/>
            <a:ext cx="2249424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860536" y="496519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BFF"/>
                </a:solidFill>
              </a:rPr>
              <a:t>Publish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82D1009-2B49-369D-FA7C-CBBA8E5BCD65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0ADDF6F-0804-2EDD-F056-1E285F0492B0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Image 0" descr="/mnt/data/c3a6c063-2bf5-4e3e-a1e2-e3d2839451d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customization map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00584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FBFF"/>
                </a:solidFill>
              </a:rPr>
              <a:t>Three zones. Three levels. Content first, appearance second, engine last.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13232" y="169164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03142F">
              <a:alpha val="96000"/>
            </a:srgbClr>
          </a:solidFill>
          <a:ln w="19050">
            <a:solidFill>
              <a:srgbClr val="35D07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41832" y="1938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5D07F"/>
                </a:solidFill>
              </a:rPr>
              <a:t>CONTENT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97280" y="2496312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1197864" y="261518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titles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1097280" y="3118104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2"/>
          <p:cNvSpPr/>
          <p:nvPr/>
        </p:nvSpPr>
        <p:spPr>
          <a:xfrm>
            <a:off x="1197864" y="323697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objectives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097280" y="3739896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97864" y="385876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questions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1097280" y="4361688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6"/>
          <p:cNvSpPr/>
          <p:nvPr/>
        </p:nvSpPr>
        <p:spPr>
          <a:xfrm>
            <a:off x="1197864" y="448056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bosses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124712" y="5074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B7FBFF"/>
                </a:solidFill>
              </a:rPr>
              <a:t>Safe with intention.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297680" y="169164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03142F">
              <a:alpha val="96000"/>
            </a:srgbClr>
          </a:solidFill>
          <a:ln w="19050">
            <a:solidFill>
              <a:srgbClr val="18D5C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26280" y="1938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D5CF"/>
                </a:solidFill>
              </a:rPr>
              <a:t>APPEARANCE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81728" y="2496312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1"/>
          <p:cNvSpPr/>
          <p:nvPr/>
        </p:nvSpPr>
        <p:spPr>
          <a:xfrm>
            <a:off x="4782312" y="261518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colors</a:t>
            </a: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681728" y="3118104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82312" y="323697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images</a:t>
            </a: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81728" y="3739896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82312" y="385876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buttons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681728" y="4361688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7"/>
          <p:cNvSpPr/>
          <p:nvPr/>
        </p:nvSpPr>
        <p:spPr>
          <a:xfrm>
            <a:off x="4782312" y="448056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audio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09160" y="5074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B7FBFF"/>
                </a:solidFill>
              </a:rPr>
              <a:t>Safe with intention.</a:t>
            </a: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7882128" y="169164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03142F">
              <a:alpha val="96000"/>
            </a:srgbClr>
          </a:solidFill>
          <a:ln w="19050">
            <a:solidFill>
              <a:srgbClr val="F05D5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110728" y="1938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5D5E"/>
                </a:solidFill>
              </a:rPr>
              <a:t>ENGINE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266176" y="2496312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5" name="Text 32"/>
          <p:cNvSpPr/>
          <p:nvPr/>
        </p:nvSpPr>
        <p:spPr>
          <a:xfrm>
            <a:off x="8366760" y="261518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adaptive logic</a:t>
            </a: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8266176" y="3118104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4"/>
          <p:cNvSpPr/>
          <p:nvPr/>
        </p:nvSpPr>
        <p:spPr>
          <a:xfrm>
            <a:off x="8366760" y="323697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progress keys</a:t>
            </a: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8266176" y="3739896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9" name="Text 36"/>
          <p:cNvSpPr/>
          <p:nvPr/>
        </p:nvSpPr>
        <p:spPr>
          <a:xfrm>
            <a:off x="8366760" y="385876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telemetry</a:t>
            </a: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8266176" y="4361688"/>
            <a:ext cx="2487168" cy="420624"/>
          </a:xfrm>
          <a:prstGeom prst="roundRect">
            <a:avLst>
              <a:gd name="adj" fmla="val 13043"/>
            </a:avLst>
          </a:prstGeom>
          <a:solidFill>
            <a:srgbClr val="0D356D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Text 38"/>
          <p:cNvSpPr/>
          <p:nvPr/>
        </p:nvSpPr>
        <p:spPr>
          <a:xfrm>
            <a:off x="8366760" y="448056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7FBFF"/>
                </a:solidFill>
              </a:rPr>
              <a:t>achievements</a:t>
            </a: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8293608" y="5074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05D5E"/>
                </a:solidFill>
              </a:rPr>
              <a:t>Do not improvise here.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the template during the video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05156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BFF"/>
                </a:solidFill>
              </a:rPr>
              <a:t>Use search like a tool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4435" y="1737360"/>
            <a:ext cx="529916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7FBFF"/>
                </a:solidFill>
              </a:rPr>
              <a:t>• Open the HTML or JS file in a code editor.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7FBFF"/>
                </a:solidFill>
              </a:rPr>
              <a:t>• Search for the exact label shown on the slide.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7FBFF"/>
                </a:solidFill>
              </a:rPr>
              <a:t>• Read the nearby comments before editing.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7FBFF"/>
                </a:solidFill>
              </a:rPr>
              <a:t>• Change only the targeted field or block.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7FBFF"/>
                </a:solidFill>
              </a:rPr>
              <a:t>• Test immediately after each cluster of edits.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166360" cy="3108960"/>
          </a:xfrm>
          <a:prstGeom prst="roundRect">
            <a:avLst>
              <a:gd name="adj" fmla="val 2059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9944" y="154533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55664" y="160477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SEARCH HABIT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6464808" y="1892808"/>
            <a:ext cx="47640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/* SAFE TO EDIT */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 text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images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colors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/* DO NOT TOUCH */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adaptive logic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storage keys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progression rules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302752" y="50749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449056" y="51937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467344" y="54041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SAFE TO EDIT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 NOT TOUCH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QUESTION BANKS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97F0C2-BD98-C04E-C6F0-69C65A564AD9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84B4E-EBDD-F091-ADAF-0CC87BAB8099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B738D5E3-44BD-8CFF-2D16-8A9AD1AC2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1874520"/>
            <a:ext cx="1463040" cy="274320"/>
          </a:xfrm>
          <a:prstGeom prst="rect">
            <a:avLst/>
          </a:prstGeom>
          <a:solidFill>
            <a:srgbClr val="35D07F"/>
          </a:solidFill>
          <a:ln>
            <a:solidFill>
              <a:srgbClr val="35D07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D46"/>
                </a:solidFill>
              </a:rPr>
              <a:t>LEVEL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customization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33101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7FBFF"/>
                </a:solidFill>
              </a:rPr>
              <a:t>The minimum viable changes before a faculty game can launch.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AB0823-65F8-37FF-CE7F-2C74D0B783A4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89416C-5381-761D-5D19-97B091A40939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Image 0" descr="/mnt/data/c3a6c063-2bf5-4e3e-a1e2-e3d2839451d3.png">
              <a:extLst>
                <a:ext uri="{FF2B5EF4-FFF2-40B4-BE49-F238E27FC236}">
                  <a16:creationId xmlns:a16="http://schemas.microsoft.com/office/drawing/2014/main" id="{EF747290-A156-4BFD-FCE2-5A50BF02B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 1 overview: required edits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561320" y="201168"/>
            <a:ext cx="1207008" cy="292608"/>
          </a:xfrm>
          <a:prstGeom prst="rect">
            <a:avLst/>
          </a:prstGeom>
          <a:solidFill>
            <a:srgbClr val="18D5CF">
              <a:alpha val="88000"/>
            </a:srgbClr>
          </a:solidFill>
          <a:ln>
            <a:solidFill>
              <a:srgbClr val="18D5CF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BFF"/>
                </a:solidFill>
              </a:rPr>
              <a:t>VIDEO 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0584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FBFF"/>
                </a:solidFill>
              </a:rPr>
              <a:t>These are the edits every faculty author must make.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1463040"/>
            <a:ext cx="11018520" cy="3968496"/>
          </a:xfrm>
          <a:prstGeom prst="roundRect">
            <a:avLst>
              <a:gd name="adj" fmla="val 1843"/>
            </a:avLst>
          </a:prstGeom>
          <a:solidFill>
            <a:srgbClr val="03142F">
              <a:alpha val="97000"/>
            </a:srgbClr>
          </a:solidFill>
          <a:ln w="12700">
            <a:solidFill>
              <a:srgbClr val="18D5C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1600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D5CF"/>
                </a:solidFill>
              </a:rPr>
              <a:t>CUSTOMIZE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34840" y="1600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D5CF"/>
                </a:solidFill>
              </a:rPr>
              <a:t>WHERE TO LOOK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16002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D5CF"/>
                </a:solidFill>
              </a:rPr>
              <a:t>SEARCH TERMS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19293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Game identity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4434840" y="19293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HTML title / start screen / mode menu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909560" y="19293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&lt;title&gt;, class="title"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23134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23865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Learning objectives</a:t>
            </a:r>
            <a:endParaRPr lang="en-US" sz="1130" dirty="0"/>
          </a:p>
        </p:txBody>
      </p:sp>
      <p:sp>
        <p:nvSpPr>
          <p:cNvPr id="19" name="Text 16"/>
          <p:cNvSpPr/>
          <p:nvPr/>
        </p:nvSpPr>
        <p:spPr>
          <a:xfrm>
            <a:off x="4434840" y="23865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Question objects / objective metadata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7909560" y="23865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objective, primarySkill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77240" y="27706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28437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Question pools</a:t>
            </a:r>
            <a:endParaRPr lang="en-US" sz="1130" dirty="0"/>
          </a:p>
        </p:txBody>
      </p:sp>
      <p:sp>
        <p:nvSpPr>
          <p:cNvPr id="23" name="Text 20"/>
          <p:cNvSpPr/>
          <p:nvPr/>
        </p:nvSpPr>
        <p:spPr>
          <a:xfrm>
            <a:off x="4434840" y="2843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QUESTION BANKS section or external JS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7909560" y="28437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questionBanks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" y="32278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8680" y="33009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Bosses &amp; artifacts</a:t>
            </a:r>
            <a:endParaRPr lang="en-US" sz="1130" dirty="0"/>
          </a:p>
        </p:txBody>
      </p:sp>
      <p:sp>
        <p:nvSpPr>
          <p:cNvPr id="27" name="Text 24"/>
          <p:cNvSpPr/>
          <p:nvPr/>
        </p:nvSpPr>
        <p:spPr>
          <a:xfrm>
            <a:off x="4434840" y="33009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BOSSES &amp; REWARDS section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7909560" y="33009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artifacts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77240" y="36850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8680" y="37581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Images &amp; file paths</a:t>
            </a:r>
            <a:endParaRPr lang="en-US" sz="1130" dirty="0"/>
          </a:p>
        </p:txBody>
      </p:sp>
      <p:sp>
        <p:nvSpPr>
          <p:cNvPr id="31" name="Text 28"/>
          <p:cNvSpPr/>
          <p:nvPr/>
        </p:nvSpPr>
        <p:spPr>
          <a:xfrm>
            <a:off x="4434840" y="37581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HTML src / CSS url() / Audio()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7909560" y="37581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src=, url(, new Audio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77240" y="41422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68680" y="42153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Downloads/resources</a:t>
            </a:r>
            <a:endParaRPr lang="en-US" sz="1130" dirty="0"/>
          </a:p>
        </p:txBody>
      </p:sp>
      <p:sp>
        <p:nvSpPr>
          <p:cNvPr id="35" name="Text 32"/>
          <p:cNvSpPr/>
          <p:nvPr/>
        </p:nvSpPr>
        <p:spPr>
          <a:xfrm>
            <a:off x="4434840" y="42153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Resources page or support pages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7909560" y="42153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href="/downloads/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77240" y="45994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68680" y="46725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Student-facing wording</a:t>
            </a:r>
            <a:endParaRPr lang="en-US" sz="1130" dirty="0"/>
          </a:p>
        </p:txBody>
      </p:sp>
      <p:sp>
        <p:nvSpPr>
          <p:cNvPr id="39" name="Text 36"/>
          <p:cNvSpPr/>
          <p:nvPr/>
        </p:nvSpPr>
        <p:spPr>
          <a:xfrm>
            <a:off x="4434840" y="46725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start screen, mode cards, transitions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909560" y="46725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mode-card-text, hallwayText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77240" y="50566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68680" y="51297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Validation pass</a:t>
            </a:r>
            <a:endParaRPr lang="en-US" sz="1130" dirty="0"/>
          </a:p>
        </p:txBody>
      </p:sp>
      <p:sp>
        <p:nvSpPr>
          <p:cNvPr id="43" name="Text 40"/>
          <p:cNvSpPr/>
          <p:nvPr/>
        </p:nvSpPr>
        <p:spPr>
          <a:xfrm>
            <a:off x="4434840" y="5129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Browser + validator workbook</a:t>
            </a:r>
            <a:endParaRPr lang="en-US" sz="1020" dirty="0"/>
          </a:p>
        </p:txBody>
      </p:sp>
      <p:sp>
        <p:nvSpPr>
          <p:cNvPr id="44" name="Text 41"/>
          <p:cNvSpPr/>
          <p:nvPr/>
        </p:nvSpPr>
        <p:spPr>
          <a:xfrm>
            <a:off x="7909560" y="51297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console errors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&lt;title&gt;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const questionBanks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const artifacts</a:t>
            </a:r>
            <a:endParaRPr lang="en-US" sz="91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5435091-7B3F-C0FA-AEE3-9D23489F8C25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8A24CD7-C404-7B8D-931E-BD7552188E7B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Image 0" descr="/mnt/data/c3a6c063-2bf5-4e3e-a1e2-e3d2839451d3.png">
              <a:extLst>
                <a:ext uri="{FF2B5EF4-FFF2-40B4-BE49-F238E27FC236}">
                  <a16:creationId xmlns:a16="http://schemas.microsoft.com/office/drawing/2014/main" id="{504762B7-4C9C-DCF3-D792-8A98F77A2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identity: title, start screen, and mode menu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35D07F"/>
          </a:solidFill>
          <a:ln>
            <a:solidFill>
              <a:srgbClr val="35D07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307592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7FBFF"/>
                </a:solidFill>
              </a:rPr>
              <a:t>What changes: visible identity. What stays: IDs and function calls.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" y="1938528"/>
            <a:ext cx="461772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Change the browser title and visible game title.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Update the entry button and mode-select language.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Do not rename element IDs like startScreen, emailInput, or modeSelectScreen.</a:t>
            </a:r>
            <a:endParaRPr lang="en-US" sz="1520" dirty="0"/>
          </a:p>
        </p:txBody>
      </p:sp>
      <p:sp>
        <p:nvSpPr>
          <p:cNvPr id="12" name="Shape 9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HTML</a:t>
            </a:r>
            <a:endParaRPr lang="en-US" sz="670" dirty="0"/>
          </a:p>
        </p:txBody>
      </p:sp>
      <p:sp>
        <p:nvSpPr>
          <p:cNvPr id="15" name="Text 12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 Gate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class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 GATE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id="emailInput" type="email"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placeholder="Enter your school email"&gt;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onclick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showModeSelect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()"&gt;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THE MARKET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class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mode-subtitle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how you want to enter The Market Gate.
</a:t>
            </a: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&lt;title&gt;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class="title"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mode-subtitle</a:t>
            </a:r>
            <a:endParaRPr lang="en-US" sz="91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6E954E-F7FC-779C-97E3-B23C89B84FEE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9CD2D9-E6AD-27CB-B1E7-A049FCA18FD5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Image 0" descr="/mnt/data/c3a6c063-2bf5-4e3e-a1e2-e3d2839451d3.png">
              <a:extLst>
                <a:ext uri="{FF2B5EF4-FFF2-40B4-BE49-F238E27FC236}">
                  <a16:creationId xmlns:a16="http://schemas.microsoft.com/office/drawing/2014/main" id="{541766AC-0D29-D4B0-3938-FA3EBFB81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objectives: make the engine understand your course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35D07F"/>
          </a:solidFill>
          <a:ln>
            <a:solidFill>
              <a:srgbClr val="35D07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Objective tags are not decorative. They drive the mastery report and remediation.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Primary skill, repair skill, and common error give the adaptive system useful evidence.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Use the architecture resource before building large pools.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JAVASCRIPT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101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"Question text"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options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"broad_topic"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"interpretation"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objective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"LO4.2"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primarySkill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"movement_vs_shift"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secondarySkills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"demand_shifters"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repairSkill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"movement_vs_shift"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commonError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"treats_price_change_as_curve_shift"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feedback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"Why the correct answer is correct."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"optional_graph.webp"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objective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primarySkill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repairSkill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71F62E-50BB-5CAF-D16D-B7D4C4085E31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7B329C1-5453-E966-430A-0D3E8CA48113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00E87A19-6EB4-4A89-AC16-3DF718892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c3a6c063-2bf5-4e3e-a1e2-e3d2839451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pools: the primary content edit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35D07F"/>
          </a:solidFill>
          <a:ln>
            <a:solidFill>
              <a:srgbClr val="35D07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This is the main instructional payload.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Use consistent IDs, tags, types, skills, and objectives.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External JS banks are cleaner once the pool gets large.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Validate before placing a bank into the live game.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JAVASCRIPT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QUESTION BANKS — PRIMARY EDIT AREA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9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questionBanks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easy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1–99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medium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100–199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hard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200–299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elite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300–999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easyBoss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2000–2999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mediumBoss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3000–3999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finalBoss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4000–4999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legendary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9000–9099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legendaryBoss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9100+ */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QUESTION BANKS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const questionBanks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id: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E801B0-CDBE-4040-9C9B-51700C3245AF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D6D9678-D55D-CD18-4998-B199F6EA8C7E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40C73C65-A43C-814C-EAE5-B2DDE78F7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Bosses, artifacts, and mission identity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35D07F"/>
          </a:solidFill>
          <a:ln>
            <a:solidFill>
              <a:srgbClr val="35D07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Bosses and artifacts carry the theme.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Rename them to fit the discipline but keep the object structure intact.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Artifact slot IDs must keep matching the unlock system.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JAVASCRIPT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compass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"compass.webp"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"Frontier Compass"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"The compass marks the production frontier."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lens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"lens.webp"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"Signal Lens"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"The market signal sharpens."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getMarketGateBossName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(){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"Frontier Keeper"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"Signal Broker"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"Price Magistrate"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const artifacts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getMarketGateBossName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vault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B273DF2-12DF-CAF1-2D1A-0938BA2D9851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D44E048-4388-4C61-99CD-3373A88ACEAE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AD377E44-2048-8DEB-9220-1CD8CE2B3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Images, downloads, and file paths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35D07F"/>
          </a:solidFill>
          <a:ln>
            <a:solidFill>
              <a:srgbClr val="35D07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Most broken visual assets are path problems, not code problems.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Keep filenames consistent and lowercase when possible.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Check images, audio, and downloads after publishing—not just locally.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HTML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src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mode_standard.webp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alt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=""&gt;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src="assets/images/mastery-quests-logo.png"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alt="Mastery Quests"&gt;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url('question_background_image.webp');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bgMusic = new Audio('chamber.mp3');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href="/downloads/resources/faculty-template.html"
</a:t>
            </a:r>
            <a:r>
              <a:rPr lang="en-US" sz="8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download&gt;Download Template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8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src=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url(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new Audio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/downloads/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2D7909-4F29-53AA-A0FB-7DA7F65636F9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D9A387D-F07B-9891-925B-293061FC7CC5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F12A8EC5-24C7-7960-61FC-9B46209AC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1874520"/>
            <a:ext cx="1463040" cy="274320"/>
          </a:xfrm>
          <a:prstGeom prst="rect">
            <a:avLst/>
          </a:prstGeom>
          <a:solidFill>
            <a:srgbClr val="18D5CF"/>
          </a:solidFill>
          <a:ln>
            <a:solidFill>
              <a:srgbClr val="18D5C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D46"/>
                </a:solidFill>
              </a:rPr>
              <a:t>LEVEL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customization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33101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7FBFF"/>
                </a:solidFill>
              </a:rPr>
              <a:t>These edits make the game feel like it belongs to the course.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FEB52B-3350-01CB-C0F8-D7604BFA8C0A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69815F-3B21-8313-04C8-08D26B90DE05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Image 0" descr="/mnt/data/c3a6c063-2bf5-4e3e-a1e2-e3d2839451d3.png">
              <a:extLst>
                <a:ext uri="{FF2B5EF4-FFF2-40B4-BE49-F238E27FC236}">
                  <a16:creationId xmlns:a16="http://schemas.microsoft.com/office/drawing/2014/main" id="{FE6AF940-7608-39EF-B149-619A9A518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 2 overview: course identity and polish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0584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FBFF"/>
                </a:solidFill>
              </a:rPr>
              <a:t>These changes are safe when you edit the right section and test after.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1463040"/>
            <a:ext cx="11018520" cy="3968496"/>
          </a:xfrm>
          <a:prstGeom prst="roundRect">
            <a:avLst>
              <a:gd name="adj" fmla="val 1843"/>
            </a:avLst>
          </a:prstGeom>
          <a:solidFill>
            <a:srgbClr val="03142F">
              <a:alpha val="97000"/>
            </a:srgbClr>
          </a:solidFill>
          <a:ln w="12700">
            <a:solidFill>
              <a:srgbClr val="18D5C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1600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D5CF"/>
                </a:solidFill>
              </a:rPr>
              <a:t>CUSTOMIZE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34840" y="1600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D5CF"/>
                </a:solidFill>
              </a:rPr>
              <a:t>WHERE TO LOOK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16002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D5CF"/>
                </a:solidFill>
              </a:rPr>
              <a:t>SEARCH TERMS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19293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Theme colors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4434840" y="19293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VISUAL DESIGN / CSS selectors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909560" y="19293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{, #gameBox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23134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23865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Backgrounds</a:t>
            </a:r>
            <a:endParaRPr lang="en-US" sz="1130" dirty="0"/>
          </a:p>
        </p:txBody>
      </p:sp>
      <p:sp>
        <p:nvSpPr>
          <p:cNvPr id="19" name="Text 16"/>
          <p:cNvSpPr/>
          <p:nvPr/>
        </p:nvSpPr>
        <p:spPr>
          <a:xfrm>
            <a:off x="4434840" y="23865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CSS background url() rules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7909560" y="23865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url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77240" y="27706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28437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Mode cards</a:t>
            </a:r>
            <a:endParaRPr lang="en-US" sz="1130" dirty="0"/>
          </a:p>
        </p:txBody>
      </p:sp>
      <p:sp>
        <p:nvSpPr>
          <p:cNvPr id="23" name="Text 20"/>
          <p:cNvSpPr/>
          <p:nvPr/>
        </p:nvSpPr>
        <p:spPr>
          <a:xfrm>
            <a:off x="4434840" y="2843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modeSelectScreen HTML + .mode-card CSS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7909560" y="28437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mode-card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" y="32278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8680" y="33009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Buttons</a:t>
            </a:r>
            <a:endParaRPr lang="en-US" sz="1130" dirty="0"/>
          </a:p>
        </p:txBody>
      </p:sp>
      <p:sp>
        <p:nvSpPr>
          <p:cNvPr id="27" name="Text 24"/>
          <p:cNvSpPr/>
          <p:nvPr/>
        </p:nvSpPr>
        <p:spPr>
          <a:xfrm>
            <a:off x="4434840" y="33009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button, .start-btn, .continue-btn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7909560" y="33009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77240" y="36850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8680" y="37581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Wizard/guide</a:t>
            </a:r>
            <a:endParaRPr lang="en-US" sz="1130" dirty="0"/>
          </a:p>
        </p:txBody>
      </p:sp>
      <p:sp>
        <p:nvSpPr>
          <p:cNvPr id="31" name="Text 28"/>
          <p:cNvSpPr/>
          <p:nvPr/>
        </p:nvSpPr>
        <p:spPr>
          <a:xfrm>
            <a:off x="4434840" y="37581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wizardBox / wizardImage / wizardName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7909560" y="37581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wizardImage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77240" y="41422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68680" y="42153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Feedback tone</a:t>
            </a:r>
            <a:endParaRPr lang="en-US" sz="1130" dirty="0"/>
          </a:p>
        </p:txBody>
      </p:sp>
      <p:sp>
        <p:nvSpPr>
          <p:cNvPr id="35" name="Text 32"/>
          <p:cNvSpPr/>
          <p:nvPr/>
        </p:nvSpPr>
        <p:spPr>
          <a:xfrm>
            <a:off x="4434840" y="42153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wizardFeedback and transition functions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7909560" y="42153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wizardFeedback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77240" y="45994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68680" y="46725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Audio</a:t>
            </a:r>
            <a:endParaRPr lang="en-US" sz="1130" dirty="0"/>
          </a:p>
        </p:txBody>
      </p:sp>
      <p:sp>
        <p:nvSpPr>
          <p:cNvPr id="39" name="Text 36"/>
          <p:cNvSpPr/>
          <p:nvPr/>
        </p:nvSpPr>
        <p:spPr>
          <a:xfrm>
            <a:off x="4434840" y="46725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AUDIO SYSTEM section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909560" y="46725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Audio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77240" y="50566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68680" y="51297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Mastery report wording</a:t>
            </a:r>
            <a:endParaRPr lang="en-US" sz="1130" dirty="0"/>
          </a:p>
        </p:txBody>
      </p:sp>
      <p:sp>
        <p:nvSpPr>
          <p:cNvPr id="43" name="Text 40"/>
          <p:cNvSpPr/>
          <p:nvPr/>
        </p:nvSpPr>
        <p:spPr>
          <a:xfrm>
            <a:off x="4434840" y="5129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POST-BATTLE MASTERY REPORT</a:t>
            </a:r>
            <a:endParaRPr lang="en-US" sz="1020" dirty="0"/>
          </a:p>
        </p:txBody>
      </p:sp>
      <p:sp>
        <p:nvSpPr>
          <p:cNvPr id="44" name="Text 41"/>
          <p:cNvSpPr/>
          <p:nvPr/>
        </p:nvSpPr>
        <p:spPr>
          <a:xfrm>
            <a:off x="7909560" y="51297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mastery-report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VISUAL DESIGN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mode-card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wizardFeedback</a:t>
            </a:r>
            <a:endParaRPr lang="en-US" sz="91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A54E78F-2C2C-21E0-49FB-1B1E2110C9FF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DB6ED44-B805-ED06-644F-4C110A85B4D2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Image 0" descr="/mnt/data/c3a6c063-2bf5-4e3e-a1e2-e3d2839451d3.png">
              <a:extLst>
                <a:ext uri="{FF2B5EF4-FFF2-40B4-BE49-F238E27FC236}">
                  <a16:creationId xmlns:a16="http://schemas.microsoft.com/office/drawing/2014/main" id="{83108322-1527-7940-8C75-56561CD97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Colors and theme: change the feel without changing the engine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18D5CF"/>
          </a:solidFill>
          <a:ln>
            <a:solidFill>
              <a:srgbClr val="18D5C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Colors live in CSS. That is the games appearance, not its mechanics.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Update background, text, border, and glow colors together.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Do not rename IDs while styling them. That is how things break.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CSS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'Rajdhani'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Arial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sans-serif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#eef6ff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'question_background_image.webp'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background-size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cover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background-position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center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body::after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inset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radial-gradient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at center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248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0.36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48%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100%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body {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body::after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#gameBox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6262E4-1463-4C1F-CA9F-5134665AEF58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36B6923-9D63-2831-876E-DE6967C85257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6F6A38D8-0390-5B64-D2F1-C2BD67863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cards: change descriptions, images, and labels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18D5CF"/>
          </a:solidFill>
          <a:ln>
            <a:solidFill>
              <a:srgbClr val="18D5C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Mode cards are visible teaching text.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Change text and images. Leave onclick targets alone unless the mode logic changes.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This is a good place to explain stakes: bosses, setbacks, artifacts, scoring.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HTML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class="mode-card"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onclick="startSelectedMode('standard')"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aria-label="Standard Campaign..."&gt;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src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mode_standard.webp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alt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=""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aria-hidden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class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mode-card-title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Campaign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class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mode-card-text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Full 30-room run with bosses, artifacts,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setbacks, and realm progress.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.mode-card img {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width:100%;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height:220px;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object-fit:cover;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mode-card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mode-card-title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mode-card-text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FE6578-B0D1-668D-0784-EF74D663074E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F0F9F7-DB3B-17C6-54F6-EDBBFD7024EB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305DD325-0C3A-E347-4ECE-C15E8007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tone: customize the voice, not the logic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18D5CF"/>
          </a:solidFill>
          <a:ln>
            <a:solidFill>
              <a:srgbClr val="18D5C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Feedback makes the game feel authored rather than generic.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Change message pools and transition text.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Keep required calls like loadQuestion() intact.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JAVASCRIPT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wizardSpeak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"message"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innerText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showHallwayTransition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overlay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"hallwayTransition"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"hallwayText"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"&lt;div&gt;"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getWizardFeedback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"correct"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"&lt;/div&gt;&lt;div&gt;"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feedback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"&lt;/div&gt;"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(()=&gt;{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loadQuestion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3200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wizardSpeak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showHallwayTransition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loadQuestion()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B6E332-B4BF-AE7C-4073-899ABCB290EF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7E3A1B-DB8D-422F-45EC-A95E1D57D986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33104DA3-56F8-7B26-A5EF-C29625DB0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Images and audio: polish without surgery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18D5CF"/>
          </a:solidFill>
          <a:ln>
            <a:solidFill>
              <a:srgbClr val="18D5C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Images are referenced by filename in HTML, CSS, and artifact objects.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Audio is optional. Keep volume conservative and include a sound toggle.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Test in browser because autoplay rules can block sound.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JAVASCRIPT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AUDIO SYSTEM — OPTIONAL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bgMusic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Audio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'chamber.mp3'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bgMusic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bgMusic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0.05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bossMusic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Audio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'boss_battle_music.mp3'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bossMusic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bossMusic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0.10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sfxCorrect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Audio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'ding.wav'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sfxCorrect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0.25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toggleGameSound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(){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soundEnabled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soundEnabled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AUDIO SYSTEM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new Audio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toggleGameSound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88DCDB-BCC7-D4FE-458D-9C930C9893CB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A1E3192-E5B0-5617-F269-11FA306E11E4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9BF44A47-FDB9-1DC6-A2EE-9E6D3C977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1874520"/>
            <a:ext cx="1463040" cy="274320"/>
          </a:xfrm>
          <a:prstGeom prst="rect">
            <a:avLst/>
          </a:prstGeom>
          <a:solidFill>
            <a:srgbClr val="F05D5E"/>
          </a:solidFill>
          <a:ln>
            <a:solidFill>
              <a:srgbClr val="F05D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D46"/>
                </a:solidFill>
              </a:rPr>
              <a:t>LEVEL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customization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33101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7FBFF"/>
                </a:solidFill>
              </a:rPr>
              <a:t>This is where engines go to die.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4FA52D4-5657-CAE8-5E7A-2534541E03F3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0CCC7A-82E4-F41C-F14C-D71F6164CBA5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Image 0" descr="/mnt/data/c3a6c063-2bf5-4e3e-a1e2-e3d2839451d3.png">
              <a:extLst>
                <a:ext uri="{FF2B5EF4-FFF2-40B4-BE49-F238E27FC236}">
                  <a16:creationId xmlns:a16="http://schemas.microsoft.com/office/drawing/2014/main" id="{202BE8A4-2987-F773-D1FE-8DCBC9DAB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 3 overview: advanced edits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0584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FBFF"/>
                </a:solidFill>
              </a:rPr>
              <a:t>Touch these only when you mean to change game behavior.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" y="1463040"/>
            <a:ext cx="11018520" cy="3968496"/>
          </a:xfrm>
          <a:prstGeom prst="roundRect">
            <a:avLst>
              <a:gd name="adj" fmla="val 1843"/>
            </a:avLst>
          </a:prstGeom>
          <a:solidFill>
            <a:srgbClr val="03142F">
              <a:alpha val="97000"/>
            </a:srgbClr>
          </a:solidFill>
          <a:ln w="12700">
            <a:solidFill>
              <a:srgbClr val="18D5C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1600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D5CF"/>
                </a:solidFill>
              </a:rPr>
              <a:t>CUSTOMIZE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34840" y="1600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D5CF"/>
                </a:solidFill>
              </a:rPr>
              <a:t>WHERE TO LOOK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09560" y="16002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D5CF"/>
                </a:solidFill>
              </a:rPr>
              <a:t>SEARCH TERMS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19293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Adaptive selection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4434840" y="19293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Core question selection functions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909560" y="19293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selectAdaptiveQuestion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23134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23865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Repair and bridge logic</a:t>
            </a:r>
            <a:endParaRPr lang="en-US" sz="1130" dirty="0"/>
          </a:p>
        </p:txBody>
      </p:sp>
      <p:sp>
        <p:nvSpPr>
          <p:cNvPr id="19" name="Text 16"/>
          <p:cNvSpPr/>
          <p:nvPr/>
        </p:nvSpPr>
        <p:spPr>
          <a:xfrm>
            <a:off x="4434840" y="23865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remediationState and detour functions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7909560" y="23865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remediationState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77240" y="27706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28437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Progress tracking</a:t>
            </a:r>
            <a:endParaRPr lang="en-US" sz="1130" dirty="0"/>
          </a:p>
        </p:txBody>
      </p:sp>
      <p:sp>
        <p:nvSpPr>
          <p:cNvPr id="23" name="Text 20"/>
          <p:cNvSpPr/>
          <p:nvPr/>
        </p:nvSpPr>
        <p:spPr>
          <a:xfrm>
            <a:off x="4434840" y="2843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SAVE_KEY, REALM_* keys, localStorage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7909560" y="28437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SAVE_KEY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77240" y="32278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8680" y="33009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Score Attack rules</a:t>
            </a:r>
            <a:endParaRPr lang="en-US" sz="1130" dirty="0"/>
          </a:p>
        </p:txBody>
      </p:sp>
      <p:sp>
        <p:nvSpPr>
          <p:cNvPr id="27" name="Text 24"/>
          <p:cNvSpPr/>
          <p:nvPr/>
        </p:nvSpPr>
        <p:spPr>
          <a:xfrm>
            <a:off x="4434840" y="33009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SCORE_ATTACK_CONFIG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7909560" y="33009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SCORE_ATTACK_CONFIG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77240" y="36850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8680" y="37581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Achievement rules</a:t>
            </a:r>
            <a:endParaRPr lang="en-US" sz="1130" dirty="0"/>
          </a:p>
        </p:txBody>
      </p:sp>
      <p:sp>
        <p:nvSpPr>
          <p:cNvPr id="31" name="Text 28"/>
          <p:cNvSpPr/>
          <p:nvPr/>
        </p:nvSpPr>
        <p:spPr>
          <a:xfrm>
            <a:off x="4434840" y="37581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achievement tracking functions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7909560" y="37581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unlockAchievement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77240" y="41422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68680" y="42153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Telemetry</a:t>
            </a:r>
            <a:endParaRPr lang="en-US" sz="1130" dirty="0"/>
          </a:p>
        </p:txBody>
      </p:sp>
      <p:sp>
        <p:nvSpPr>
          <p:cNvPr id="35" name="Text 32"/>
          <p:cNvSpPr/>
          <p:nvPr/>
        </p:nvSpPr>
        <p:spPr>
          <a:xfrm>
            <a:off x="4434840" y="42153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completion POST / Apps Script endpoint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7909560" y="42153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77240" y="45994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68680" y="46725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Mode behavior</a:t>
            </a:r>
            <a:endParaRPr lang="en-US" sz="1130" dirty="0"/>
          </a:p>
        </p:txBody>
      </p:sp>
      <p:sp>
        <p:nvSpPr>
          <p:cNvPr id="39" name="Text 36"/>
          <p:cNvSpPr/>
          <p:nvPr/>
        </p:nvSpPr>
        <p:spPr>
          <a:xfrm>
            <a:off x="4434840" y="46725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startSelectedMode / modeUses...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909560" y="46725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gameMode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77240" y="5056632"/>
            <a:ext cx="10607040" cy="0"/>
          </a:xfrm>
          <a:prstGeom prst="line">
            <a:avLst/>
          </a:prstGeom>
          <a:noFill/>
          <a:ln w="635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68680" y="51297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F7FBFF"/>
                </a:solidFill>
              </a:rPr>
              <a:t>Core IDs</a:t>
            </a:r>
            <a:endParaRPr lang="en-US" sz="1130" dirty="0"/>
          </a:p>
        </p:txBody>
      </p:sp>
      <p:sp>
        <p:nvSpPr>
          <p:cNvPr id="43" name="Text 40"/>
          <p:cNvSpPr/>
          <p:nvPr/>
        </p:nvSpPr>
        <p:spPr>
          <a:xfrm>
            <a:off x="4434840" y="51297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7DD"/>
                </a:solidFill>
              </a:rPr>
              <a:t>HTML + JS element lookups</a:t>
            </a:r>
            <a:endParaRPr lang="en-US" sz="1020" dirty="0"/>
          </a:p>
        </p:txBody>
      </p:sp>
      <p:sp>
        <p:nvSpPr>
          <p:cNvPr id="44" name="Text 41"/>
          <p:cNvSpPr/>
          <p:nvPr/>
        </p:nvSpPr>
        <p:spPr>
          <a:xfrm>
            <a:off x="7909560" y="512978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8D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selectAdaptiveQuestion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SAVE_KEY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fetch(</a:t>
            </a:r>
            <a:endParaRPr lang="en-US" sz="91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2ACC4A5-7BBF-CC24-68E4-EAD1400DE78E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73B853A-A53E-807D-6E1B-35A877F8DA9B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Image 0" descr="/mnt/data/c3a6c063-2bf5-4e3e-a1e2-e3d2839451d3.png">
              <a:extLst>
                <a:ext uri="{FF2B5EF4-FFF2-40B4-BE49-F238E27FC236}">
                  <a16:creationId xmlns:a16="http://schemas.microsoft.com/office/drawing/2014/main" id="{F3E44460-09F5-8FB6-1E19-B0423DF66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Adaptive engine: understand it before touching it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F05D5E"/>
          </a:solidFill>
          <a:ln>
            <a:solidFill>
              <a:srgbClr val="F05D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307592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7FBFF"/>
                </a:solidFill>
              </a:rPr>
              <a:t>Content tags feed the engine. They do not replace the engine.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" y="1938528"/>
            <a:ext cx="461772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This code decides what students see next.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Changing it can affect every mode.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For most faculty builds, customize content and metadata instead.</a:t>
            </a:r>
            <a:endParaRPr lang="en-US" sz="1520" dirty="0"/>
          </a:p>
        </p:txBody>
      </p:sp>
      <p:sp>
        <p:nvSpPr>
          <p:cNvPr id="12" name="Shape 9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JAVASCRIPT</a:t>
            </a:r>
            <a:endParaRPr lang="en-US" sz="670" dirty="0"/>
          </a:p>
        </p:txBody>
      </p:sp>
      <p:sp>
        <p:nvSpPr>
          <p:cNvPr id="15" name="Text 12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remediationState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objective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commonError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sourceType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returnRoom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originQuestionId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careless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4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selectAdaptiveQuestion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(){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core selection system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repair, bridge, difficulty, and coverage logic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remediationState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selectAdaptiveQuestion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adaptiveMode</a:t>
            </a:r>
            <a:endParaRPr lang="en-US" sz="91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CD58D2-A2E4-F4A2-0F86-10AB8ADCA902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9556E04-692C-62A9-B25D-8366DB2EEC91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Image 0" descr="/mnt/data/c3a6c063-2bf5-4e3e-a1e2-e3d2839451d3.png">
              <a:extLst>
                <a:ext uri="{FF2B5EF4-FFF2-40B4-BE49-F238E27FC236}">
                  <a16:creationId xmlns:a16="http://schemas.microsoft.com/office/drawing/2014/main" id="{D55A599C-DD6B-088D-92C5-BD83A496C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 keys: names matter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F05D5E"/>
          </a:solidFill>
          <a:ln>
            <a:solidFill>
              <a:srgbClr val="F05D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Storage keys preserve runs, progress, mode history, and achievements.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Changing keys can strand old progress or disconnect the hub.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Rename only when creating a new game identity intentionally.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JAVASCRIPT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SAVE_KEY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"marketGateSave_v1"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REALM_MISSION_KEY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"marketGate"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REALM_STARTED_KEY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"economicRealm_marketGate_started"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REALM_COMPLETE_KEY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"economicRealm_marketGate_complete"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REALM_STATUS_KEY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"economicRealm_marketGate_status"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REALM_ROOM_KEY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"economicRealm_marketGate_room"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room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localStorage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getItem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"marketGateRoom"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parseInt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getItem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"marketGateRoom"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8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SAVE_KEY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REALM_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localStorage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4E98D3-8054-1289-600E-D7D39E88DB08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BCA921C-62B5-626D-E621-88BD44269CA3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31E7779C-88E4-147C-958B-B5DC42530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Achievements, score, and telemetry: advanced systems are connected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950976"/>
            <a:ext cx="1371600" cy="210312"/>
          </a:xfrm>
          <a:prstGeom prst="rect">
            <a:avLst/>
          </a:prstGeom>
          <a:solidFill>
            <a:srgbClr val="F05D5E"/>
          </a:solidFill>
          <a:ln>
            <a:solidFill>
              <a:srgbClr val="F05D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D46"/>
                </a:solidFill>
              </a:rPr>
              <a:t>LEVEL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58368" y="1225296"/>
            <a:ext cx="461772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Achievement conditions often depend on mode, streaks, bosses, and totals.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Score Attack has its own scoring configuration.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7FBFF"/>
                </a:solidFill>
              </a:rPr>
              <a:t>• Telemetry is not a copy-paste feature. It needs privacy review and correct endpoints.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5532120" y="1143000"/>
            <a:ext cx="5989320" cy="416052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78424" y="127101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24144" y="133045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JAVASCRIPT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733288" y="1618488"/>
            <a:ext cx="55869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SCORE_ATTACK_CONFIG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correct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100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wrongPenalty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rapidMissPenalty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speedBonuses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maxMs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8000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points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40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"Speed"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streakBonuses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minStreak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points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50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"Streak"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applyScoreAttackForAnswer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isCorrect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responseTime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scoring layer: separate from adaptive logic</a:t>
            </a: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8412480" y="54864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58784" y="56052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577072" y="5815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SCORE_ATTACK_CONFIG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unlockAchievement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fetch(</a:t>
            </a:r>
            <a:endParaRPr lang="en-US" sz="91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D57EBD-534C-4F2F-6FC1-A0420BC9958A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A9BCC1-C312-FE06-16B4-89621EC8F2B0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Image 0" descr="/mnt/data/c3a6c063-2bf5-4e3e-a1e2-e3d2839451d3.png">
              <a:extLst>
                <a:ext uri="{FF2B5EF4-FFF2-40B4-BE49-F238E27FC236}">
                  <a16:creationId xmlns:a16="http://schemas.microsoft.com/office/drawing/2014/main" id="{CE2CB570-BC60-CB09-3CFD-364B26CCC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pass: what faculty should actually do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561320" y="201168"/>
            <a:ext cx="1207008" cy="292608"/>
          </a:xfrm>
          <a:prstGeom prst="rect">
            <a:avLst/>
          </a:prstGeom>
          <a:solidFill>
            <a:srgbClr val="18D5CF">
              <a:alpha val="88000"/>
            </a:srgbClr>
          </a:solidFill>
          <a:ln>
            <a:solidFill>
              <a:srgbClr val="18D5CF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BFF"/>
                </a:solidFill>
              </a:rPr>
              <a:t>VIDEO 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02412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FBFF"/>
                </a:solidFill>
              </a:rPr>
              <a:t>This is the clean workflow for the video demonstration.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77240" y="1828800"/>
            <a:ext cx="1874520" cy="2606040"/>
          </a:xfrm>
          <a:prstGeom prst="roundRect">
            <a:avLst>
              <a:gd name="adj" fmla="val 3902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99032" y="21031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D5CF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41832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7FBFF"/>
                </a:solidFill>
              </a:rPr>
              <a:t>Duplicate the template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960120" y="352044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B7C7DD"/>
                </a:solidFill>
              </a:rPr>
              <a:t>Never edit the original first.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3017520" y="1828800"/>
            <a:ext cx="1874520" cy="2606040"/>
          </a:xfrm>
          <a:prstGeom prst="roundRect">
            <a:avLst>
              <a:gd name="adj" fmla="val 3902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39312" y="21031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D5C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182112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7FBFF"/>
                </a:solidFill>
              </a:rPr>
              <a:t>Replace Level 1 content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3200400" y="352044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B7C7DD"/>
                </a:solidFill>
              </a:rPr>
              <a:t>Title, objectives, pools, bosses, artifacts.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5257800" y="1828800"/>
            <a:ext cx="1874520" cy="2606040"/>
          </a:xfrm>
          <a:prstGeom prst="roundRect">
            <a:avLst>
              <a:gd name="adj" fmla="val 3902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79592" y="21031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D5CF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422392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7FBFF"/>
                </a:solidFill>
              </a:rPr>
              <a:t>Apply Level 2 identity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5440680" y="352044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B7C7DD"/>
                </a:solidFill>
              </a:rPr>
              <a:t>Colors, images, mode text, feedback voice.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7498080" y="1828800"/>
            <a:ext cx="1874520" cy="2606040"/>
          </a:xfrm>
          <a:prstGeom prst="roundRect">
            <a:avLst>
              <a:gd name="adj" fmla="val 3902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19872" y="21031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D5CF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662672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7FBFF"/>
                </a:solidFill>
              </a:rPr>
              <a:t>Avoid Level 3 unless needed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7680960" y="352044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B7C7DD"/>
                </a:solidFill>
              </a:rPr>
              <a:t>Engine changes require deliberate testing.</a:t>
            </a:r>
            <a:endParaRPr lang="en-US" sz="970" dirty="0"/>
          </a:p>
        </p:txBody>
      </p:sp>
      <p:sp>
        <p:nvSpPr>
          <p:cNvPr id="26" name="Shape 23"/>
          <p:cNvSpPr/>
          <p:nvPr/>
        </p:nvSpPr>
        <p:spPr>
          <a:xfrm>
            <a:off x="9738360" y="1828800"/>
            <a:ext cx="1874520" cy="2606040"/>
          </a:xfrm>
          <a:prstGeom prst="roundRect">
            <a:avLst>
              <a:gd name="adj" fmla="val 3902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360152" y="21031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D5CF"/>
                </a:solidFill>
              </a:rPr>
              <a:t>5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9902952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7FBFF"/>
                </a:solidFill>
              </a:rPr>
              <a:t>Validate and simulate</a:t>
            </a:r>
            <a:endParaRPr lang="en-US" sz="1260" dirty="0"/>
          </a:p>
        </p:txBody>
      </p:sp>
      <p:sp>
        <p:nvSpPr>
          <p:cNvPr id="29" name="Text 26"/>
          <p:cNvSpPr/>
          <p:nvPr/>
        </p:nvSpPr>
        <p:spPr>
          <a:xfrm>
            <a:off x="9921240" y="352044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B7C7DD"/>
                </a:solidFill>
              </a:rPr>
              <a:t>All modes. Miss questions on purpose.</a:t>
            </a:r>
            <a:endParaRPr lang="en-US" sz="970" dirty="0"/>
          </a:p>
        </p:txBody>
      </p:sp>
      <p:sp>
        <p:nvSpPr>
          <p:cNvPr id="30" name="Shape 27"/>
          <p:cNvSpPr/>
          <p:nvPr/>
        </p:nvSpPr>
        <p:spPr>
          <a:xfrm>
            <a:off x="8321040" y="5230368"/>
            <a:ext cx="3127248" cy="914400"/>
          </a:xfrm>
          <a:prstGeom prst="roundRect">
            <a:avLst>
              <a:gd name="adj" fmla="val 8000"/>
            </a:avLst>
          </a:prstGeom>
          <a:solidFill>
            <a:srgbClr val="03142F">
              <a:alpha val="96000"/>
            </a:srgbClr>
          </a:solidFill>
          <a:ln w="12700">
            <a:solidFill>
              <a:srgbClr val="18D5CF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467344" y="5349240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8D5CF"/>
                </a:solidFill>
              </a:rPr>
              <a:t>SEARCH FOR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8485632" y="555955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GAME TITLE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QUESTION BANKS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F7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VALIDATOR</a:t>
            </a:r>
            <a:endParaRPr lang="en-US" sz="91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B9A2101-4FE6-0816-4CC8-033F425F633B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82B58CC-F54E-C1AE-FB0B-4E1F2974AF5A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Image 0" descr="/mnt/data/c3a6c063-2bf5-4e3e-a1e2-e3d2839451d3.png">
              <a:extLst>
                <a:ext uri="{FF2B5EF4-FFF2-40B4-BE49-F238E27FC236}">
                  <a16:creationId xmlns:a16="http://schemas.microsoft.com/office/drawing/2014/main" id="{A299FA68-48E5-4F03-DD1B-F173C94FE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checklist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0058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FBFF"/>
                </a:solidFill>
              </a:rPr>
              <a:t>Do not publish because it “looks right.” Test it like you are trying to break it.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1691640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87552" y="17647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181051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Standard Campaign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4526280" y="1691640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90872" y="17647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0" y="181051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Timed Trial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8229600" y="1691640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94192" y="17647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732520" y="181051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Exam Drill</a:t>
            </a:r>
            <a:endParaRPr lang="en-US" sz="1130" dirty="0"/>
          </a:p>
        </p:txBody>
      </p:sp>
      <p:sp>
        <p:nvSpPr>
          <p:cNvPr id="19" name="Shape 16"/>
          <p:cNvSpPr/>
          <p:nvPr/>
        </p:nvSpPr>
        <p:spPr>
          <a:xfrm>
            <a:off x="822960" y="2386584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87552" y="2459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25880" y="2505456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Legendary Mode</a:t>
            </a:r>
            <a:endParaRPr lang="en-US" sz="1130" dirty="0"/>
          </a:p>
        </p:txBody>
      </p:sp>
      <p:sp>
        <p:nvSpPr>
          <p:cNvPr id="22" name="Shape 19"/>
          <p:cNvSpPr/>
          <p:nvPr/>
        </p:nvSpPr>
        <p:spPr>
          <a:xfrm>
            <a:off x="4526280" y="2386584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90872" y="2459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029200" y="2505456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Score Attack</a:t>
            </a:r>
            <a:endParaRPr lang="en-US" sz="1130" dirty="0"/>
          </a:p>
        </p:txBody>
      </p:sp>
      <p:sp>
        <p:nvSpPr>
          <p:cNvPr id="25" name="Shape 22"/>
          <p:cNvSpPr/>
          <p:nvPr/>
        </p:nvSpPr>
        <p:spPr>
          <a:xfrm>
            <a:off x="8229600" y="2386584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394192" y="2459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732520" y="2505456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Boss rooms</a:t>
            </a:r>
            <a:endParaRPr lang="en-US" sz="1130" dirty="0"/>
          </a:p>
        </p:txBody>
      </p:sp>
      <p:sp>
        <p:nvSpPr>
          <p:cNvPr id="28" name="Shape 25"/>
          <p:cNvSpPr/>
          <p:nvPr/>
        </p:nvSpPr>
        <p:spPr>
          <a:xfrm>
            <a:off x="822960" y="3081528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87552" y="31546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325880" y="3200400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Wrong-answer repair</a:t>
            </a:r>
            <a:endParaRPr lang="en-US" sz="1130" dirty="0"/>
          </a:p>
        </p:txBody>
      </p:sp>
      <p:sp>
        <p:nvSpPr>
          <p:cNvPr id="31" name="Shape 28"/>
          <p:cNvSpPr/>
          <p:nvPr/>
        </p:nvSpPr>
        <p:spPr>
          <a:xfrm>
            <a:off x="4526280" y="3081528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690872" y="31546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029200" y="3200400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Bridge questions</a:t>
            </a:r>
            <a:endParaRPr lang="en-US" sz="1130" dirty="0"/>
          </a:p>
        </p:txBody>
      </p:sp>
      <p:sp>
        <p:nvSpPr>
          <p:cNvPr id="34" name="Shape 31"/>
          <p:cNvSpPr/>
          <p:nvPr/>
        </p:nvSpPr>
        <p:spPr>
          <a:xfrm>
            <a:off x="8229600" y="3081528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94192" y="31546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732520" y="3200400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Mastery report</a:t>
            </a:r>
            <a:endParaRPr lang="en-US" sz="1130" dirty="0"/>
          </a:p>
        </p:txBody>
      </p:sp>
      <p:sp>
        <p:nvSpPr>
          <p:cNvPr id="37" name="Shape 34"/>
          <p:cNvSpPr/>
          <p:nvPr/>
        </p:nvSpPr>
        <p:spPr>
          <a:xfrm>
            <a:off x="822960" y="3776472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87552" y="38496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325880" y="3895344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Validator results</a:t>
            </a:r>
            <a:endParaRPr lang="en-US" sz="1130" dirty="0"/>
          </a:p>
        </p:txBody>
      </p:sp>
      <p:sp>
        <p:nvSpPr>
          <p:cNvPr id="40" name="Shape 37"/>
          <p:cNvSpPr/>
          <p:nvPr/>
        </p:nvSpPr>
        <p:spPr>
          <a:xfrm>
            <a:off x="4526280" y="3776472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690872" y="38496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5029200" y="3895344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No console errors</a:t>
            </a:r>
            <a:endParaRPr lang="en-US" sz="1130" dirty="0"/>
          </a:p>
        </p:txBody>
      </p:sp>
      <p:sp>
        <p:nvSpPr>
          <p:cNvPr id="43" name="Shape 40"/>
          <p:cNvSpPr/>
          <p:nvPr/>
        </p:nvSpPr>
        <p:spPr>
          <a:xfrm>
            <a:off x="8229600" y="3776472"/>
            <a:ext cx="3154680" cy="429768"/>
          </a:xfrm>
          <a:prstGeom prst="roundRect">
            <a:avLst>
              <a:gd name="adj" fmla="val 12766"/>
            </a:avLst>
          </a:prstGeom>
          <a:solidFill>
            <a:srgbClr val="03142F">
              <a:alpha val="95000"/>
            </a:srgbClr>
          </a:solidFill>
          <a:ln w="12700">
            <a:solidFill>
              <a:srgbClr val="18D5C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394192" y="38496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5D07F"/>
                </a:solidFill>
              </a:rPr>
              <a:t>✓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8732520" y="3895344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F7FBFF"/>
                </a:solidFill>
              </a:rPr>
              <a:t>Mobile view</a:t>
            </a:r>
            <a:endParaRPr lang="en-US" sz="1130" dirty="0"/>
          </a:p>
        </p:txBody>
      </p:sp>
      <p:sp>
        <p:nvSpPr>
          <p:cNvPr id="46" name="Text 43"/>
          <p:cNvSpPr/>
          <p:nvPr/>
        </p:nvSpPr>
        <p:spPr>
          <a:xfrm>
            <a:off x="914400" y="5532120"/>
            <a:ext cx="101498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8D981"/>
                </a:solidFill>
              </a:rPr>
              <a:t>Final test: miss questions intentionally. If repair and bridge logic never appears, you did not test the adaptive engine. You just clicked around.</a:t>
            </a:r>
            <a:endParaRPr lang="en-US" sz="155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6A6D8D0-5E2F-A8C0-CD40-A20E245CA14E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AD2F0B9-66B3-A886-FE77-89A177B1AE47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Image 0" descr="/mnt/data/c3a6c063-2bf5-4e3e-a1e2-e3d2839451d3.png">
              <a:extLst>
                <a:ext uri="{FF2B5EF4-FFF2-40B4-BE49-F238E27FC236}">
                  <a16:creationId xmlns:a16="http://schemas.microsoft.com/office/drawing/2014/main" id="{6CA60893-50EC-214D-8193-6D6FA61AE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46"/>
          </a:solidFill>
          <a:ln w="12700">
            <a:solidFill>
              <a:srgbClr val="061D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93392" y="12801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5BE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THE GAME</a:t>
            </a:r>
            <a:endParaRPr lang="en-US" sz="770" dirty="0"/>
          </a:p>
        </p:txBody>
      </p:sp>
      <p:sp>
        <p:nvSpPr>
          <p:cNvPr id="6" name="Text 3"/>
          <p:cNvSpPr/>
          <p:nvPr/>
        </p:nvSpPr>
        <p:spPr>
          <a:xfrm>
            <a:off x="1993392" y="292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build pipeline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11475720" cy="0"/>
          </a:xfrm>
          <a:prstGeom prst="line">
            <a:avLst/>
          </a:prstGeom>
          <a:noFill/>
          <a:ln w="10160">
            <a:solidFill>
              <a:srgbClr val="7BEF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3232" y="9875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FBFF"/>
                </a:solidFill>
              </a:rPr>
              <a:t>The resources are not separate chores. They are one production line.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1920240"/>
            <a:ext cx="1205702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95000"/>
            </a:srgbClr>
          </a:solidFill>
          <a:ln w="16510">
            <a:solidFill>
              <a:srgbClr val="18D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084832"/>
            <a:ext cx="11142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B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01230" y="210312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321270" y="1920240"/>
            <a:ext cx="1205702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366990" y="2084832"/>
            <a:ext cx="11142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BFF"/>
                </a:solidFill>
              </a:rPr>
              <a:t>AI Prompt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90979" y="210312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911019" y="1920240"/>
            <a:ext cx="1205702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956739" y="2084832"/>
            <a:ext cx="11142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BFF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80729" y="210312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500769" y="1920240"/>
            <a:ext cx="1205702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46489" y="2084832"/>
            <a:ext cx="11142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BFF"/>
                </a:solidFill>
              </a:rPr>
              <a:t>Validator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70479" y="210312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090519" y="1920240"/>
            <a:ext cx="1205702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36239" y="2084832"/>
            <a:ext cx="11142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BFF"/>
                </a:solidFill>
              </a:rPr>
              <a:t>Template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0229" y="210312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680269" y="1920240"/>
            <a:ext cx="1205702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25989" y="2084832"/>
            <a:ext cx="11142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BFF"/>
                </a:solidFill>
              </a:rPr>
              <a:t>Simulate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949978" y="2103120"/>
            <a:ext cx="256032" cy="201168"/>
          </a:xfrm>
          <a:prstGeom prst="rightArrow">
            <a:avLst/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0270018" y="1920240"/>
            <a:ext cx="1205702" cy="566928"/>
          </a:xfrm>
          <a:prstGeom prst="roundRect">
            <a:avLst>
              <a:gd name="adj" fmla="val 12903"/>
            </a:avLst>
          </a:prstGeom>
          <a:solidFill>
            <a:srgbClr val="0D356D">
              <a:alpha val="80000"/>
            </a:srgbClr>
          </a:solidFill>
          <a:ln w="16510">
            <a:solidFill>
              <a:srgbClr val="18D5C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315738" y="2084832"/>
            <a:ext cx="11142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BFF"/>
                </a:solidFill>
              </a:rPr>
              <a:t>Publish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920240" y="3063240"/>
            <a:ext cx="8321040" cy="2148840"/>
          </a:xfrm>
          <a:prstGeom prst="roundRect">
            <a:avLst>
              <a:gd name="adj" fmla="val 2979"/>
            </a:avLst>
          </a:prstGeom>
          <a:solidFill>
            <a:srgbClr val="0B1220"/>
          </a:solidFill>
          <a:ln w="12700">
            <a:solidFill>
              <a:srgbClr val="18D5C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066544" y="319125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8D5CF"/>
          </a:solidFill>
          <a:ln w="12700">
            <a:solidFill>
              <a:srgbClr val="18D5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112264" y="325069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D46"/>
                </a:solidFill>
              </a:rPr>
              <a:t>WORKFLOW</a:t>
            </a:r>
            <a:endParaRPr lang="en-US" sz="670" dirty="0"/>
          </a:p>
        </p:txBody>
      </p:sp>
      <p:sp>
        <p:nvSpPr>
          <p:cNvPr id="33" name="Text 30"/>
          <p:cNvSpPr/>
          <p:nvPr/>
        </p:nvSpPr>
        <p:spPr>
          <a:xfrm>
            <a:off x="2121408" y="3538728"/>
            <a:ext cx="7918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/ confirm learning objectives
Generate banks using the prompt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items using the architecture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with the validator
Add pools to the template
Test every mode
Publish the game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7FBFF"/>
                </a:solidFill>
              </a:rPr>
              <a:t>Content first. Appearance second. Engine last. </a:t>
            </a:r>
            <a:endParaRPr lang="en-US" sz="19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DAA381-E94D-3213-473F-DEA39761A753}"/>
              </a:ext>
            </a:extLst>
          </p:cNvPr>
          <p:cNvGrpSpPr/>
          <p:nvPr/>
        </p:nvGrpSpPr>
        <p:grpSpPr>
          <a:xfrm>
            <a:off x="320040" y="164592"/>
            <a:ext cx="1417320" cy="489205"/>
            <a:chOff x="320040" y="164592"/>
            <a:chExt cx="1417320" cy="48920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26759A5-117B-8478-CDB9-5E9C8E27653D}"/>
                </a:ext>
              </a:extLst>
            </p:cNvPr>
            <p:cNvSpPr/>
            <p:nvPr/>
          </p:nvSpPr>
          <p:spPr>
            <a:xfrm>
              <a:off x="320040" y="164592"/>
              <a:ext cx="1417320" cy="4846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Image 0" descr="/mnt/data/c3a6c063-2bf5-4e3e-a1e2-e3d2839451d3.png">
              <a:extLst>
                <a:ext uri="{FF2B5EF4-FFF2-40B4-BE49-F238E27FC236}">
                  <a16:creationId xmlns:a16="http://schemas.microsoft.com/office/drawing/2014/main" id="{B2F2AC9E-D14F-4EA8-6BAA-F9FEA43BC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178309"/>
              <a:ext cx="1417320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3091</Words>
  <Application>Microsoft Office PowerPoint</Application>
  <PresentationFormat>Widescreen</PresentationFormat>
  <Paragraphs>392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Mastery Quests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Customize the Game</dc:title>
  <dc:subject>Customize the Game training deck</dc:subject>
  <dc:creator>Mastery Quests</dc:creator>
  <cp:lastModifiedBy>William J. Byrd</cp:lastModifiedBy>
  <cp:revision>2</cp:revision>
  <dcterms:created xsi:type="dcterms:W3CDTF">2026-07-21T17:59:42Z</dcterms:created>
  <dcterms:modified xsi:type="dcterms:W3CDTF">2026-07-21T21:20:27Z</dcterms:modified>
</cp:coreProperties>
</file>